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4412" y="-16761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707904" y="696086"/>
            <a:ext cx="3906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accent5"/>
                </a:solidFill>
              </a:rPr>
              <a:t>Seaborn</a:t>
            </a:r>
            <a:endParaRPr lang="en-IN" sz="2400" b="1" u="sng" dirty="0">
              <a:solidFill>
                <a:schemeClr val="accent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31840" y="1208522"/>
            <a:ext cx="39061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Uses of </a:t>
            </a:r>
            <a:r>
              <a:rPr lang="en-US" sz="2000" b="1" dirty="0" err="1" smtClean="0">
                <a:solidFill>
                  <a:schemeClr val="accent5"/>
                </a:solidFill>
              </a:rPr>
              <a:t>Swormplot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11845" y="4732335"/>
            <a:ext cx="72994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Shows individual data points for each category.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Displays data distribution within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Compares values between groups.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Prevents overlapping of points for clearer visualization.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Works well with boxplots/violin plots to show detailed data.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382" y="1608631"/>
            <a:ext cx="4111352" cy="304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6210" y="4999610"/>
            <a:ext cx="71287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Shows the average (mean) of a numerical variable for each category.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Compares values between categories.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Displays trends or relationships across categories.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Shows confidence intervals around the mean.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980728"/>
            <a:ext cx="5648325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47864" y="384003"/>
            <a:ext cx="2082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Uses </a:t>
            </a:r>
            <a:r>
              <a:rPr lang="en-US" b="1" dirty="0">
                <a:solidFill>
                  <a:schemeClr val="accent5"/>
                </a:solidFill>
              </a:rPr>
              <a:t>of </a:t>
            </a:r>
            <a:r>
              <a:rPr lang="en-US" b="1" dirty="0" err="1" smtClean="0">
                <a:solidFill>
                  <a:schemeClr val="accent5"/>
                </a:solidFill>
              </a:rPr>
              <a:t>Pointplot</a:t>
            </a:r>
            <a:endParaRPr lang="en-IN" b="1" u="sng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92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5374" y="3573016"/>
            <a:ext cx="841450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 smtClean="0"/>
              <a:t>Variables </a:t>
            </a:r>
            <a:r>
              <a:rPr lang="en-US" sz="1400" b="1" u="sng" dirty="0"/>
              <a:t>shown</a:t>
            </a:r>
          </a:p>
          <a:p>
            <a:r>
              <a:rPr lang="en-US" sz="1400" b="1" dirty="0" err="1"/>
              <a:t>Specialisation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400" dirty="0" err="1"/>
              <a:t>Mkt&amp;HR</a:t>
            </a:r>
            <a:r>
              <a:rPr lang="en-US" sz="1400" dirty="0"/>
              <a:t>, </a:t>
            </a:r>
            <a:r>
              <a:rPr lang="en-US" sz="1400" dirty="0" err="1"/>
              <a:t>Mkt&amp;Fin</a:t>
            </a:r>
            <a:endParaRPr lang="en-US" sz="1400" dirty="0"/>
          </a:p>
          <a:p>
            <a:r>
              <a:rPr lang="en-US" sz="1400" b="1" dirty="0"/>
              <a:t>Gender:</a:t>
            </a:r>
            <a:r>
              <a:rPr lang="en-US" sz="1400" dirty="0"/>
              <a:t> Male (M), Female (F)</a:t>
            </a:r>
          </a:p>
          <a:p>
            <a:r>
              <a:rPr lang="en-US" sz="1400" b="1" dirty="0"/>
              <a:t>Measure:</a:t>
            </a:r>
            <a:r>
              <a:rPr lang="en-US" sz="1400" dirty="0"/>
              <a:t> </a:t>
            </a:r>
            <a:r>
              <a:rPr lang="en-US" sz="1400" dirty="0" smtClean="0"/>
              <a:t>Salary</a:t>
            </a:r>
          </a:p>
          <a:p>
            <a:endParaRPr lang="en-US" sz="1400" dirty="0"/>
          </a:p>
          <a:p>
            <a:r>
              <a:rPr lang="en-US" sz="1400" b="1" u="sng" dirty="0" smtClean="0"/>
              <a:t>Key Observations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 smtClean="0"/>
              <a:t>In </a:t>
            </a:r>
            <a:r>
              <a:rPr lang="en-US" sz="1400" dirty="0"/>
              <a:t>both </a:t>
            </a:r>
            <a:r>
              <a:rPr lang="en-US" sz="1400" dirty="0" smtClean="0"/>
              <a:t>specializations, </a:t>
            </a:r>
            <a:r>
              <a:rPr lang="en-US" sz="1400" dirty="0"/>
              <a:t>males generally have slightly higher salaries than females.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 err="1"/>
              <a:t>Mkt&amp;Fin</a:t>
            </a:r>
            <a:r>
              <a:rPr lang="en-US" sz="1400" dirty="0"/>
              <a:t> shows higher salary ranges and greater variation compared to </a:t>
            </a:r>
            <a:r>
              <a:rPr lang="en-US" sz="1400" dirty="0" err="1"/>
              <a:t>Mkt&amp;HR</a:t>
            </a:r>
            <a:r>
              <a:rPr lang="en-US" sz="14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 err="1"/>
              <a:t>Mkt&amp;HR</a:t>
            </a:r>
            <a:r>
              <a:rPr lang="en-US" sz="1400" dirty="0"/>
              <a:t> salaries are more concentrated around the mid-range values.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 err="1"/>
              <a:t>Mkt&amp;Fin</a:t>
            </a:r>
            <a:r>
              <a:rPr lang="en-US" sz="1400" dirty="0"/>
              <a:t> male salaries show the widest spread, indicating higher possible earnings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400" dirty="0"/>
          </a:p>
          <a:p>
            <a:r>
              <a:rPr lang="en-US" sz="1400" b="1" u="sng" dirty="0"/>
              <a:t>Conclusion:</a:t>
            </a:r>
            <a:r>
              <a:rPr lang="en-US" sz="1400" u="sng" dirty="0"/>
              <a:t/>
            </a:r>
            <a:br>
              <a:rPr lang="en-US" sz="1400" u="sng" dirty="0"/>
            </a:br>
            <a:r>
              <a:rPr lang="en-US" sz="1400" dirty="0"/>
              <a:t>Students specializing in </a:t>
            </a:r>
            <a:r>
              <a:rPr lang="en-US" sz="1400" dirty="0" err="1"/>
              <a:t>Mkt&amp;Fin</a:t>
            </a:r>
            <a:r>
              <a:rPr lang="en-US" sz="1400" dirty="0"/>
              <a:t> tend to receive higher and more varied salaries, while </a:t>
            </a:r>
            <a:r>
              <a:rPr lang="en-US" sz="1400" dirty="0" err="1"/>
              <a:t>Mkt&amp;HR</a:t>
            </a:r>
            <a:r>
              <a:rPr lang="en-US" sz="1400" dirty="0"/>
              <a:t> salaries are more stable, with males earning slightly more than females on average.</a:t>
            </a:r>
          </a:p>
        </p:txBody>
      </p:sp>
      <p:sp>
        <p:nvSpPr>
          <p:cNvPr id="2" name="Rectangle 1"/>
          <p:cNvSpPr/>
          <p:nvPr/>
        </p:nvSpPr>
        <p:spPr>
          <a:xfrm>
            <a:off x="2699792" y="83771"/>
            <a:ext cx="3117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Summary of the </a:t>
            </a:r>
            <a:r>
              <a:rPr lang="en-US" b="1" dirty="0" smtClean="0">
                <a:solidFill>
                  <a:schemeClr val="accent5"/>
                </a:solidFill>
              </a:rPr>
              <a:t>Violin Plot</a:t>
            </a:r>
            <a:endParaRPr lang="en-IN" b="1" u="sng" dirty="0">
              <a:solidFill>
                <a:schemeClr val="accent5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356" y="597119"/>
            <a:ext cx="4896544" cy="2975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8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7972" y="3140968"/>
            <a:ext cx="8414508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 smtClean="0"/>
              <a:t>Variables </a:t>
            </a:r>
            <a:r>
              <a:rPr lang="en-US" sz="1400" b="1" u="sng" dirty="0"/>
              <a:t>shown</a:t>
            </a:r>
          </a:p>
          <a:p>
            <a:r>
              <a:rPr lang="en-US" sz="1400" b="1" dirty="0"/>
              <a:t>Time:</a:t>
            </a:r>
            <a:r>
              <a:rPr lang="en-US" sz="1400" dirty="0"/>
              <a:t> 1 min, 15 min, 30 min</a:t>
            </a:r>
          </a:p>
          <a:p>
            <a:r>
              <a:rPr lang="en-US" sz="1400" b="1" dirty="0"/>
              <a:t>Activity:</a:t>
            </a:r>
            <a:r>
              <a:rPr lang="en-US" sz="1400" dirty="0"/>
              <a:t> Rest, Walking, Running</a:t>
            </a:r>
          </a:p>
          <a:p>
            <a:r>
              <a:rPr lang="en-US" sz="1400" b="1" dirty="0"/>
              <a:t>Diet:</a:t>
            </a:r>
            <a:r>
              <a:rPr lang="en-US" sz="1400" dirty="0"/>
              <a:t> No-fat </a:t>
            </a:r>
            <a:r>
              <a:rPr lang="en-US" sz="1400" dirty="0" err="1"/>
              <a:t>vs</a:t>
            </a:r>
            <a:r>
              <a:rPr lang="en-US" sz="1400" dirty="0"/>
              <a:t> Low-fat</a:t>
            </a:r>
          </a:p>
          <a:p>
            <a:r>
              <a:rPr lang="en-US" sz="1400" b="1" dirty="0"/>
              <a:t>Measure:</a:t>
            </a:r>
            <a:r>
              <a:rPr lang="en-US" sz="1400" dirty="0"/>
              <a:t> Pulse </a:t>
            </a:r>
            <a:r>
              <a:rPr lang="en-US" sz="1400" dirty="0" smtClean="0"/>
              <a:t>rate</a:t>
            </a:r>
          </a:p>
          <a:p>
            <a:endParaRPr lang="en-US" sz="1400" dirty="0"/>
          </a:p>
          <a:p>
            <a:r>
              <a:rPr lang="en-US" sz="1400" b="1" u="sng" dirty="0"/>
              <a:t>Key Observations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Running produces the highest pulse rates, especially at 30 minutes.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Walking shows moderate pulse increase over time.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Rest maintains the lowest and most stable pulse.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Pulse generally increases as time increases (</a:t>
            </a:r>
            <a:r>
              <a:rPr lang="en-US" sz="1400" dirty="0" smtClean="0"/>
              <a:t>1 to </a:t>
            </a:r>
            <a:r>
              <a:rPr lang="en-US" sz="1400" dirty="0"/>
              <a:t>30 minutes).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The no-fat diet group tends to have slightly higher pulse values, especially during running</a:t>
            </a:r>
            <a:r>
              <a:rPr lang="en-US" sz="1400" dirty="0" smtClean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400" dirty="0"/>
          </a:p>
          <a:p>
            <a:r>
              <a:rPr lang="en-US" sz="1400" b="1" u="sng" dirty="0"/>
              <a:t>Conclusion: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Pulse rate increases with exercise intensity and time, with running causing the largest increase, and the no-fat diet group showing slightly higher pulse responses compared to the low-fat group.</a:t>
            </a:r>
          </a:p>
          <a:p>
            <a:endParaRPr lang="en-US" sz="1400" dirty="0"/>
          </a:p>
        </p:txBody>
      </p:sp>
      <p:sp>
        <p:nvSpPr>
          <p:cNvPr id="2" name="Rectangle 1"/>
          <p:cNvSpPr/>
          <p:nvPr/>
        </p:nvSpPr>
        <p:spPr>
          <a:xfrm>
            <a:off x="2267744" y="58605"/>
            <a:ext cx="4596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Summary of the </a:t>
            </a:r>
            <a:r>
              <a:rPr lang="en-US" b="1" dirty="0" smtClean="0">
                <a:solidFill>
                  <a:schemeClr val="accent5"/>
                </a:solidFill>
              </a:rPr>
              <a:t>Cat Plot (</a:t>
            </a:r>
            <a:r>
              <a:rPr lang="en-US" b="1" dirty="0" err="1" smtClean="0">
                <a:solidFill>
                  <a:schemeClr val="accent5"/>
                </a:solidFill>
              </a:rPr>
              <a:t>ie</a:t>
            </a:r>
            <a:r>
              <a:rPr lang="en-US" b="1" dirty="0" smtClean="0">
                <a:solidFill>
                  <a:schemeClr val="accent5"/>
                </a:solidFill>
              </a:rPr>
              <a:t>, Factor plot)</a:t>
            </a:r>
            <a:endParaRPr lang="en-IN" b="1" u="sng" dirty="0">
              <a:solidFill>
                <a:schemeClr val="accent5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89" y="589330"/>
            <a:ext cx="7375873" cy="255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211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1133</TotalTime>
  <Words>258</Words>
  <Application>Microsoft Office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Essential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33</cp:revision>
  <dcterms:created xsi:type="dcterms:W3CDTF">2026-01-12T09:38:17Z</dcterms:created>
  <dcterms:modified xsi:type="dcterms:W3CDTF">2026-03-09T12:42:59Z</dcterms:modified>
</cp:coreProperties>
</file>